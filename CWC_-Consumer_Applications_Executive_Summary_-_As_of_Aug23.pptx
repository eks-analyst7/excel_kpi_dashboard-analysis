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8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66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866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02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97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41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00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39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564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525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2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12E7D-2B28-4CB8-B4B1-DB8F6C737337}" type="datetimeFigureOut">
              <a:rPr lang="en-IN" smtClean="0"/>
              <a:t>26-09-2023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FEA99-C867-4E84-AE25-1BB3BD7DD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1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286" y="1973700"/>
            <a:ext cx="5355771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b="1" dirty="0" smtClean="0"/>
              <a:t>Executive Summary</a:t>
            </a:r>
            <a:endParaRPr lang="en-US" b="1" dirty="0" smtClean="0"/>
          </a:p>
          <a:p>
            <a:pPr algn="ctr">
              <a:lnSpc>
                <a:spcPct val="200000"/>
              </a:lnSpc>
            </a:pPr>
            <a:r>
              <a:rPr lang="en-US" dirty="0" smtClean="0"/>
              <a:t>Using Effective Story Telling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smtClean="0"/>
              <a:t>Clear Waters Analytics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7480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Executive Summary – as of August’23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09349"/>
            <a:ext cx="2967446" cy="47676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 smtClean="0"/>
              <a:t>Issue:</a:t>
            </a:r>
          </a:p>
          <a:p>
            <a:r>
              <a:rPr lang="en-US" sz="1400" dirty="0" smtClean="0"/>
              <a:t>A Higher Rate of Application Withdrawals leading to a fewer applications being Approved in Aug</a:t>
            </a:r>
            <a:r>
              <a:rPr lang="en-IN" sz="1400" dirty="0" smtClean="0"/>
              <a:t/>
            </a:r>
            <a:br>
              <a:rPr lang="en-IN" sz="1400" dirty="0" smtClean="0"/>
            </a:br>
            <a:r>
              <a:rPr lang="en-IN" sz="1050" dirty="0" smtClean="0"/>
              <a:t>(% Withdrawals: 31%; Target: &lt;10%)</a:t>
            </a:r>
          </a:p>
          <a:p>
            <a:r>
              <a:rPr lang="en-US" sz="1400" dirty="0" smtClean="0"/>
              <a:t>Approval Rate = 56% (Vs Target of &gt;85%); </a:t>
            </a:r>
            <a:br>
              <a:rPr lang="en-US" sz="1400" dirty="0" smtClean="0"/>
            </a:br>
            <a:r>
              <a:rPr lang="en-US" sz="1400" dirty="0" smtClean="0"/>
              <a:t>3K Apps Approved out of Total 5.5K Apps Actioned in Aug</a:t>
            </a:r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r>
              <a:rPr lang="en-US" sz="1400" b="1" dirty="0" smtClean="0"/>
              <a:t>Impact:</a:t>
            </a:r>
          </a:p>
          <a:p>
            <a:r>
              <a:rPr lang="en-US" sz="1400" dirty="0" smtClean="0"/>
              <a:t>Lower Approval Rate for new contracts, whether for existing or new consumers, poses substantial sales and consumer experience challenges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6000" y="1409349"/>
            <a:ext cx="2879794" cy="4767614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A Higher Rate of Application Withdrawals is majorly driven due to Incorrect Details or </a:t>
            </a:r>
            <a:r>
              <a:rPr lang="en-US" sz="1400" dirty="0" smtClean="0"/>
              <a:t>Incomplete </a:t>
            </a:r>
            <a:r>
              <a:rPr lang="en-US" sz="1400" dirty="0"/>
              <a:t>Applications submitted at the </a:t>
            </a:r>
            <a:r>
              <a:rPr lang="en-US" sz="1400" dirty="0" smtClean="0"/>
              <a:t>stores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 smtClean="0"/>
              <a:t>In Aug, 68% (1K out of 1.8K) of all Apps Withdrawn were attributed to the reasons stated above</a:t>
            </a:r>
            <a:endParaRPr lang="en-IN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2</a:t>
            </a:fld>
            <a:endParaRPr lang="en-IN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8610600" y="1409349"/>
            <a:ext cx="2743200" cy="4786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14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1100" dirty="0" smtClean="0"/>
              <a:t>Identified Root Cause for Applications Withdrawn due to Incorrect Details or Incomplete Applications</a:t>
            </a:r>
          </a:p>
          <a:p>
            <a:pPr marL="627063" lvl="1" indent="-169863">
              <a:buFont typeface="+mj-lt"/>
              <a:buAutoNum type="romanLcPeriod"/>
            </a:pPr>
            <a:r>
              <a:rPr lang="en-US" sz="1100" dirty="0" smtClean="0"/>
              <a:t>Engaged with the Stores with the highest withdrawn rate</a:t>
            </a:r>
          </a:p>
          <a:p>
            <a:pPr marL="627063" lvl="1" indent="-169863">
              <a:buFont typeface="+mj-lt"/>
              <a:buAutoNum type="romanLcPeriod"/>
            </a:pPr>
            <a:r>
              <a:rPr lang="en-US" sz="1100" dirty="0" smtClean="0"/>
              <a:t>Identified training plan for such Stores &amp; the training was kicked-off  in Aug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100" dirty="0" smtClean="0"/>
              <a:t>Plan is in place to review the Withdrawn Applications for Existing Consumers with an objective to reduce the withdrawal rates over time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100" dirty="0" smtClean="0"/>
              <a:t>KPI Dashboard deployed to track Key Metrics (Link to the Dashboard)</a:t>
            </a:r>
          </a:p>
          <a:p>
            <a:pPr marL="169863" indent="-169863">
              <a:buFont typeface="+mj-lt"/>
              <a:buAutoNum type="romanLcPeriod"/>
            </a:pPr>
            <a:endParaRPr lang="en-US" sz="30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sz="1200" dirty="0"/>
          </a:p>
          <a:p>
            <a:pPr marL="0" indent="0">
              <a:buNone/>
            </a:pPr>
            <a:r>
              <a:rPr lang="en-US" sz="1050" dirty="0" smtClean="0"/>
              <a:t>Training Program for Store Personnel was launched in Aug which resulted into:</a:t>
            </a:r>
          </a:p>
          <a:p>
            <a:pPr marL="444500" lvl="1" indent="-261938">
              <a:buFont typeface="Wingdings" panose="05000000000000000000" pitchFamily="2" charset="2"/>
              <a:buChar char="ü"/>
            </a:pPr>
            <a:r>
              <a:rPr lang="en-US" sz="1050" dirty="0" smtClean="0"/>
              <a:t>Withdrawal Rate in last week of Aug declined by ~2% </a:t>
            </a:r>
          </a:p>
          <a:p>
            <a:pPr marL="444500" lvl="1" indent="-261938">
              <a:buFont typeface="Wingdings" panose="05000000000000000000" pitchFamily="2" charset="2"/>
              <a:buChar char="ü"/>
            </a:pPr>
            <a:r>
              <a:rPr lang="en-US" sz="1050" dirty="0" smtClean="0"/>
              <a:t>Approval Rate improved by &gt;4% during the same period</a:t>
            </a:r>
            <a:endParaRPr lang="en-IN" sz="105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897622"/>
            <a:ext cx="10889609" cy="1677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38200" y="1031846"/>
            <a:ext cx="2967446" cy="29361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Issue &amp; Impact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4836000" y="1031846"/>
            <a:ext cx="2879794" cy="2936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Root Cause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10600" y="1036039"/>
            <a:ext cx="2743200" cy="2936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Solution</a:t>
            </a:r>
            <a:endParaRPr lang="en-IN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6694714" y="6345101"/>
            <a:ext cx="4114800" cy="365125"/>
          </a:xfrm>
        </p:spPr>
        <p:txBody>
          <a:bodyPr/>
          <a:lstStyle/>
          <a:p>
            <a:pPr algn="r"/>
            <a:r>
              <a:rPr lang="en-US" sz="1000" dirty="0" smtClean="0"/>
              <a:t>Clear Waters Analytics</a:t>
            </a:r>
            <a:endParaRPr lang="en-IN" sz="1000" dirty="0"/>
          </a:p>
        </p:txBody>
      </p:sp>
      <p:sp>
        <p:nvSpPr>
          <p:cNvPr id="14" name="Rectangle 13"/>
          <p:cNvSpPr/>
          <p:nvPr/>
        </p:nvSpPr>
        <p:spPr>
          <a:xfrm>
            <a:off x="8610600" y="4175480"/>
            <a:ext cx="2743200" cy="29361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Outcome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0958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6" grpId="0" animBg="1"/>
      <p:bldP spid="9" grpId="0" animBg="1"/>
      <p:bldP spid="10" grpId="0" animBg="1"/>
      <p:bldP spid="11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Executive Summary – as of August’23                                               (Contd..)</a:t>
            </a:r>
            <a:endParaRPr lang="en-IN" sz="28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230-1252-4229-AD6F-50D77F824F49}" type="slidenum">
              <a:rPr lang="en-IN" smtClean="0"/>
              <a:t>3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897622"/>
            <a:ext cx="10889609" cy="1677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6451134" y="6356349"/>
            <a:ext cx="4114800" cy="365125"/>
          </a:xfrm>
        </p:spPr>
        <p:txBody>
          <a:bodyPr/>
          <a:lstStyle/>
          <a:p>
            <a:pPr algn="r"/>
            <a:r>
              <a:rPr lang="en-US" sz="1000" dirty="0" smtClean="0"/>
              <a:t>Clear Waters Analytics</a:t>
            </a:r>
            <a:endParaRPr lang="en-IN" sz="1000" dirty="0"/>
          </a:p>
        </p:txBody>
      </p:sp>
      <p:sp>
        <p:nvSpPr>
          <p:cNvPr id="27" name="Rectangle 26"/>
          <p:cNvSpPr/>
          <p:nvPr/>
        </p:nvSpPr>
        <p:spPr>
          <a:xfrm>
            <a:off x="1082180" y="1058718"/>
            <a:ext cx="5452844" cy="25921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/>
          <p:cNvSpPr/>
          <p:nvPr/>
        </p:nvSpPr>
        <p:spPr>
          <a:xfrm>
            <a:off x="6769915" y="1058718"/>
            <a:ext cx="4832058" cy="25921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1082180" y="3759974"/>
            <a:ext cx="5452845" cy="25250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6769915" y="3759974"/>
            <a:ext cx="4832058" cy="25250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/>
          <p:cNvSpPr txBox="1"/>
          <p:nvPr/>
        </p:nvSpPr>
        <p:spPr>
          <a:xfrm>
            <a:off x="2076274" y="1058718"/>
            <a:ext cx="3464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/>
              <a:t>Highlights</a:t>
            </a:r>
            <a:endParaRPr lang="en-IN" sz="20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7529118" y="1058718"/>
            <a:ext cx="3464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/>
              <a:t>Risks &amp; Issues</a:t>
            </a:r>
            <a:endParaRPr lang="en-IN" sz="20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2076273" y="3759798"/>
            <a:ext cx="3464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/>
              <a:t>Metrics</a:t>
            </a:r>
            <a:endParaRPr lang="en-IN" sz="2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7529118" y="3744300"/>
            <a:ext cx="3464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/>
              <a:t>Emerging Concerns</a:t>
            </a:r>
            <a:endParaRPr lang="en-IN" sz="20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202887" y="1520112"/>
            <a:ext cx="52482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 smtClean="0"/>
              <a:t>Training Program for Store Personnel was launched in Aug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200" dirty="0" smtClean="0"/>
              <a:t>Withdrawal Rate in last week of Aug declined by ~2%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200" dirty="0" smtClean="0"/>
              <a:t>While Approval Rate improved by &gt;4% during the same period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1200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200" dirty="0" smtClean="0"/>
              <a:t>Decline Rate has been within the acceptable threshold limits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200" dirty="0" smtClean="0"/>
              <a:t>Decline Rate showing an Improvement WoW</a:t>
            </a:r>
            <a:endParaRPr lang="en-IN" sz="1200" dirty="0" smtClean="0"/>
          </a:p>
          <a:p>
            <a:endParaRPr lang="en-IN" sz="1200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200" dirty="0" smtClean="0"/>
              <a:t>More than 85% of Applications were completed within SLA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 smtClean="0"/>
              <a:t>Actioned 5.5 Applications at AHT of 21.6 (Target: &lt;20 Mins)</a:t>
            </a:r>
            <a:endParaRPr lang="en-IN" sz="1200" dirty="0" smtClean="0"/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/>
          </p:nvPr>
        </p:nvGraphicFramePr>
        <p:xfrm>
          <a:off x="1202887" y="4322732"/>
          <a:ext cx="5161560" cy="1651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927">
                  <a:extLst>
                    <a:ext uri="{9D8B030D-6E8A-4147-A177-3AD203B41FA5}">
                      <a16:colId xmlns:a16="http://schemas.microsoft.com/office/drawing/2014/main" val="3005057808"/>
                    </a:ext>
                  </a:extLst>
                </a:gridCol>
                <a:gridCol w="838900">
                  <a:extLst>
                    <a:ext uri="{9D8B030D-6E8A-4147-A177-3AD203B41FA5}">
                      <a16:colId xmlns:a16="http://schemas.microsoft.com/office/drawing/2014/main" val="263967642"/>
                    </a:ext>
                  </a:extLst>
                </a:gridCol>
                <a:gridCol w="838899">
                  <a:extLst>
                    <a:ext uri="{9D8B030D-6E8A-4147-A177-3AD203B41FA5}">
                      <a16:colId xmlns:a16="http://schemas.microsoft.com/office/drawing/2014/main" val="3775944496"/>
                    </a:ext>
                  </a:extLst>
                </a:gridCol>
                <a:gridCol w="864066">
                  <a:extLst>
                    <a:ext uri="{9D8B030D-6E8A-4147-A177-3AD203B41FA5}">
                      <a16:colId xmlns:a16="http://schemas.microsoft.com/office/drawing/2014/main" val="720018718"/>
                    </a:ext>
                  </a:extLst>
                </a:gridCol>
                <a:gridCol w="785768">
                  <a:extLst>
                    <a:ext uri="{9D8B030D-6E8A-4147-A177-3AD203B41FA5}">
                      <a16:colId xmlns:a16="http://schemas.microsoft.com/office/drawing/2014/main" val="1143806175"/>
                    </a:ext>
                  </a:extLst>
                </a:gridCol>
              </a:tblGrid>
              <a:tr h="284529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 smtClean="0"/>
                        <a:t>KPI Name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 smtClean="0"/>
                        <a:t>Week 4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 smtClean="0"/>
                        <a:t>Week 3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 smtClean="0"/>
                        <a:t>Week 2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 smtClean="0"/>
                        <a:t>Week 1</a:t>
                      </a:r>
                      <a:endParaRPr lang="en-IN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3321031"/>
                  </a:ext>
                </a:extLst>
              </a:tr>
              <a:tr h="285226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% of Applications Approved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42100"/>
                  </a:ext>
                </a:extLst>
              </a:tr>
              <a:tr h="251670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% of Applications Declined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676517"/>
                  </a:ext>
                </a:extLst>
              </a:tr>
              <a:tr h="268447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% of Applications Withdrawn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153825"/>
                  </a:ext>
                </a:extLst>
              </a:tr>
              <a:tr h="226503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% of Applications within SLA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25047"/>
                  </a:ext>
                </a:extLst>
              </a:tr>
              <a:tr h="333463">
                <a:tc>
                  <a:txBody>
                    <a:bodyPr/>
                    <a:lstStyle/>
                    <a:p>
                      <a:r>
                        <a:rPr lang="en-IN" sz="900" dirty="0" smtClean="0"/>
                        <a:t>Average Handling Time (in Mins)</a:t>
                      </a:r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260781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832829" y="4325025"/>
            <a:ext cx="463445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/>
              <a:t>Declined Rate of 13% continue to be in Amber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Need to identify Reasons &amp; scope for Improvement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/>
              <a:t>WoW decline in the # of Applications actioned within SLA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 smtClean="0"/>
              <a:t>Engage with Credit Analytics Team for Root cause</a:t>
            </a:r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dirty="0" smtClean="0"/>
          </a:p>
        </p:txBody>
      </p:sp>
      <p:sp>
        <p:nvSpPr>
          <p:cNvPr id="38" name="TextBox 37"/>
          <p:cNvSpPr txBox="1"/>
          <p:nvPr/>
        </p:nvSpPr>
        <p:spPr>
          <a:xfrm>
            <a:off x="6967521" y="1520112"/>
            <a:ext cx="46344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/>
              <a:t>A Higher Withdrawal Rate continues to be an issue in Aug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sz="1400" dirty="0" smtClean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 smtClean="0"/>
              <a:t>Continue Training Program for Store Personnel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 smtClean="0"/>
              <a:t>Review Applications Withdrawn for Existing Consumers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IN" sz="1400" dirty="0" smtClean="0"/>
          </a:p>
        </p:txBody>
      </p:sp>
      <p:sp>
        <p:nvSpPr>
          <p:cNvPr id="43" name="TextBox 42"/>
          <p:cNvSpPr txBox="1"/>
          <p:nvPr/>
        </p:nvSpPr>
        <p:spPr>
          <a:xfrm>
            <a:off x="1032892" y="6361878"/>
            <a:ext cx="35033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SLA</a:t>
            </a:r>
            <a:r>
              <a:rPr lang="en-US" sz="900" dirty="0" smtClean="0"/>
              <a:t>: Service Level Agreement</a:t>
            </a:r>
          </a:p>
          <a:p>
            <a:r>
              <a:rPr lang="en-US" sz="900" b="1" dirty="0" smtClean="0"/>
              <a:t>WoW</a:t>
            </a:r>
            <a:r>
              <a:rPr lang="en-US" sz="900" dirty="0" smtClean="0"/>
              <a:t>: Week Over Week</a:t>
            </a:r>
          </a:p>
          <a:p>
            <a:r>
              <a:rPr lang="en-US" sz="900" b="1" dirty="0" smtClean="0"/>
              <a:t>AHT</a:t>
            </a:r>
            <a:r>
              <a:rPr lang="en-US" sz="900" dirty="0" smtClean="0"/>
              <a:t>: Average Handling Time; Time taken Per Application</a:t>
            </a:r>
            <a:endParaRPr lang="en-IN" sz="900" dirty="0"/>
          </a:p>
        </p:txBody>
      </p:sp>
      <p:sp>
        <p:nvSpPr>
          <p:cNvPr id="44" name="Oval 43"/>
          <p:cNvSpPr/>
          <p:nvPr/>
        </p:nvSpPr>
        <p:spPr>
          <a:xfrm>
            <a:off x="3372374" y="4681057"/>
            <a:ext cx="142613" cy="1174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/>
          <p:cNvSpPr/>
          <p:nvPr/>
        </p:nvSpPr>
        <p:spPr>
          <a:xfrm>
            <a:off x="4246227" y="4681057"/>
            <a:ext cx="142613" cy="1174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/>
          <p:cNvSpPr/>
          <p:nvPr/>
        </p:nvSpPr>
        <p:spPr>
          <a:xfrm>
            <a:off x="5048773" y="4681057"/>
            <a:ext cx="142613" cy="1174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/>
          <p:cNvSpPr/>
          <p:nvPr/>
        </p:nvSpPr>
        <p:spPr>
          <a:xfrm>
            <a:off x="5953387" y="4681057"/>
            <a:ext cx="142613" cy="1174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/>
          <p:cNvSpPr/>
          <p:nvPr/>
        </p:nvSpPr>
        <p:spPr>
          <a:xfrm>
            <a:off x="3372374" y="4954232"/>
            <a:ext cx="142613" cy="11744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/>
          <p:cNvSpPr/>
          <p:nvPr/>
        </p:nvSpPr>
        <p:spPr>
          <a:xfrm>
            <a:off x="4246227" y="4954232"/>
            <a:ext cx="142613" cy="11744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/>
          <p:cNvSpPr/>
          <p:nvPr/>
        </p:nvSpPr>
        <p:spPr>
          <a:xfrm>
            <a:off x="5069745" y="4954232"/>
            <a:ext cx="142613" cy="11744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/>
          <p:cNvSpPr/>
          <p:nvPr/>
        </p:nvSpPr>
        <p:spPr>
          <a:xfrm>
            <a:off x="5953387" y="4954232"/>
            <a:ext cx="142613" cy="11744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/>
          <p:cNvSpPr/>
          <p:nvPr/>
        </p:nvSpPr>
        <p:spPr>
          <a:xfrm>
            <a:off x="3372374" y="5210416"/>
            <a:ext cx="142613" cy="1174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/>
          <p:cNvSpPr/>
          <p:nvPr/>
        </p:nvSpPr>
        <p:spPr>
          <a:xfrm>
            <a:off x="4246227" y="5210416"/>
            <a:ext cx="142613" cy="1174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/>
          <p:cNvSpPr/>
          <p:nvPr/>
        </p:nvSpPr>
        <p:spPr>
          <a:xfrm>
            <a:off x="5048773" y="5210416"/>
            <a:ext cx="142613" cy="1174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Oval 55"/>
          <p:cNvSpPr/>
          <p:nvPr/>
        </p:nvSpPr>
        <p:spPr>
          <a:xfrm>
            <a:off x="5953387" y="5210416"/>
            <a:ext cx="142613" cy="1174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Oval 56"/>
          <p:cNvSpPr/>
          <p:nvPr/>
        </p:nvSpPr>
        <p:spPr>
          <a:xfrm>
            <a:off x="3372374" y="5462938"/>
            <a:ext cx="142613" cy="11744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/>
          <p:cNvSpPr/>
          <p:nvPr/>
        </p:nvSpPr>
        <p:spPr>
          <a:xfrm>
            <a:off x="4246227" y="5462938"/>
            <a:ext cx="142613" cy="11744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/>
          <p:cNvSpPr/>
          <p:nvPr/>
        </p:nvSpPr>
        <p:spPr>
          <a:xfrm>
            <a:off x="5069745" y="5462938"/>
            <a:ext cx="142613" cy="11744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Oval 59"/>
          <p:cNvSpPr/>
          <p:nvPr/>
        </p:nvSpPr>
        <p:spPr>
          <a:xfrm>
            <a:off x="5953387" y="5462938"/>
            <a:ext cx="142613" cy="11744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/>
          <p:cNvSpPr/>
          <p:nvPr/>
        </p:nvSpPr>
        <p:spPr>
          <a:xfrm>
            <a:off x="3376565" y="5740308"/>
            <a:ext cx="142613" cy="11744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Oval 61"/>
          <p:cNvSpPr/>
          <p:nvPr/>
        </p:nvSpPr>
        <p:spPr>
          <a:xfrm>
            <a:off x="4250418" y="5740308"/>
            <a:ext cx="142613" cy="11744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Oval 62"/>
          <p:cNvSpPr/>
          <p:nvPr/>
        </p:nvSpPr>
        <p:spPr>
          <a:xfrm>
            <a:off x="5073936" y="5740308"/>
            <a:ext cx="142613" cy="1174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Oval 63"/>
          <p:cNvSpPr/>
          <p:nvPr/>
        </p:nvSpPr>
        <p:spPr>
          <a:xfrm>
            <a:off x="5957578" y="5740308"/>
            <a:ext cx="142613" cy="11744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3846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  <p:bldP spid="37" grpId="0"/>
      <p:bldP spid="38" grpId="0"/>
      <p:bldP spid="43" grpId="0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397</Words>
  <Application>Microsoft Office PowerPoint</Application>
  <PresentationFormat>Widescreen</PresentationFormat>
  <Paragraphs>69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Executive Summary – as of August’23</vt:lpstr>
      <vt:lpstr>Executive Summary – as of August’23                                               (Contd..)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 Kumar</dc:creator>
  <cp:lastModifiedBy>Raj Kumar</cp:lastModifiedBy>
  <cp:revision>1</cp:revision>
  <dcterms:created xsi:type="dcterms:W3CDTF">2023-09-26T16:29:46Z</dcterms:created>
  <dcterms:modified xsi:type="dcterms:W3CDTF">2023-09-27T13:51:55Z</dcterms:modified>
</cp:coreProperties>
</file>