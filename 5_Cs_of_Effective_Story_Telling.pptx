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64" r:id="rId3"/>
    <p:sldId id="265" r:id="rId4"/>
    <p:sldId id="266" r:id="rId5"/>
    <p:sldId id="267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58" autoAdjust="0"/>
    <p:restoredTop sz="94660"/>
  </p:normalViewPr>
  <p:slideViewPr>
    <p:cSldViewPr snapToGrid="0">
      <p:cViewPr>
        <p:scale>
          <a:sx n="125" d="100"/>
          <a:sy n="125" d="100"/>
        </p:scale>
        <p:origin x="402" y="-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C08BE-A946-4FF8-8F92-C1FBE8BC25D7}" type="datetimeFigureOut">
              <a:rPr lang="en-IN" smtClean="0"/>
              <a:t>26-09-2023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Clear Waters Communications - Internal &amp; Confidential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85836-A42D-4F69-A076-E4717E034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0530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959A44-7646-4204-99C9-609D4543A576}" type="datetimeFigureOut">
              <a:rPr lang="en-IN" smtClean="0"/>
              <a:t>26-09-2023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Clear Waters Communications - Internal &amp; Confidential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F33D1-7810-4237-BAEB-97D3BD8DB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62515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E1A0-1D32-4CDF-B909-A78892554F60}" type="datetime1">
              <a:rPr lang="en-IN" smtClean="0"/>
              <a:t>26-09-2023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61760" y="6356350"/>
            <a:ext cx="4114800" cy="365125"/>
          </a:xfrm>
        </p:spPr>
        <p:txBody>
          <a:bodyPr/>
          <a:lstStyle>
            <a:lvl1pPr>
              <a:defRPr sz="1000"/>
            </a:lvl1pPr>
          </a:lstStyle>
          <a:p>
            <a:r>
              <a:rPr lang="en-US" dirty="0" smtClean="0"/>
              <a:t>Clear Waters Analytics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8000" y="6356350"/>
            <a:ext cx="685800" cy="365125"/>
          </a:xfrm>
        </p:spPr>
        <p:txBody>
          <a:bodyPr/>
          <a:lstStyle/>
          <a:p>
            <a:fld id="{CC9A3230-1252-4229-AD6F-50D77F824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3707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76D8E-A5B1-47D4-9CF3-E6B70CDFC3FB}" type="datetime1">
              <a:rPr lang="en-IN" smtClean="0"/>
              <a:t>26-09-2023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Clear Waters Analytics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1077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C73A3-00C5-4712-B8FC-BA761A77592E}" type="datetime1">
              <a:rPr lang="en-IN" smtClean="0"/>
              <a:t>26-09-2023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Clear Waters Analytics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962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F559-2025-402D-B8E5-73E0E31C89C8}" type="datetime1">
              <a:rPr lang="en-IN" smtClean="0"/>
              <a:t>26-09-2023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Clear Waters Analytics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938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C0DC2-C4EC-4AE4-8F65-52E1C2DDABE0}" type="datetime1">
              <a:rPr lang="en-IN" smtClean="0"/>
              <a:t>26-09-2023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Clear Waters Analytics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6254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777BB-EB41-4FFD-BDD8-AAC0203C6667}" type="datetime1">
              <a:rPr lang="en-IN" smtClean="0"/>
              <a:t>26-09-2023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Clear Waters Analytics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6489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45A2-9512-413E-B2AB-BBC2EA28B50F}" type="datetime1">
              <a:rPr lang="en-IN" smtClean="0"/>
              <a:t>26-09-2023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Clear Waters Analytics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F623A-FCD9-4BCD-B227-0922035D917D}" type="datetime1">
              <a:rPr lang="en-IN" smtClean="0"/>
              <a:t>26-09-2023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Clear Waters Analytics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641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A33C-36BA-4FA6-8B24-2E0A2BD32024}" type="datetime1">
              <a:rPr lang="en-IN" smtClean="0"/>
              <a:t>26-09-2023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Clear Waters Analytics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78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2F77-FDFF-4962-814E-972A7C1E3517}" type="datetime1">
              <a:rPr lang="en-IN" smtClean="0"/>
              <a:t>26-09-2023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Clear Waters Analytics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280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EED1-4EAF-4703-B30B-F052DE23AA3D}" type="datetime1">
              <a:rPr lang="en-IN" smtClean="0"/>
              <a:t>26-09-2023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Clear Waters Analytics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710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66B48-7890-44F1-B4B4-2003942C9AAE}" type="datetime1">
              <a:rPr lang="en-IN" smtClean="0"/>
              <a:t>26-09-2023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Clear Waters Analytics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A3230-1252-4229-AD6F-50D77F824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859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2286" y="1973701"/>
            <a:ext cx="5355771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800" b="1" dirty="0" smtClean="0"/>
              <a:t>Mastering Data Story Telling</a:t>
            </a:r>
            <a:endParaRPr lang="en-US" b="1" dirty="0" smtClean="0"/>
          </a:p>
          <a:p>
            <a:pPr algn="ctr">
              <a:lnSpc>
                <a:spcPct val="200000"/>
              </a:lnSpc>
            </a:pPr>
            <a:r>
              <a:rPr lang="en-US" dirty="0" smtClean="0"/>
              <a:t>5 Key Principles (5 Cs)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Clear Waters Analytics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3992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Clear Waters Analytics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2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3573625" y="139959"/>
            <a:ext cx="5355771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800" b="1" dirty="0" smtClean="0"/>
              <a:t>Mastering Data Story Telling</a:t>
            </a:r>
            <a:endParaRPr lang="en-US" b="1" dirty="0" smtClean="0"/>
          </a:p>
          <a:p>
            <a:pPr algn="ctr">
              <a:lnSpc>
                <a:spcPct val="200000"/>
              </a:lnSpc>
            </a:pPr>
            <a:r>
              <a:rPr lang="en-US" dirty="0" smtClean="0"/>
              <a:t>5 Key Principles (5 Cs)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81134" y="1811383"/>
            <a:ext cx="9461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 Key Principles aka 5Cs helps in conveying key insights effectively through a Story Telling that just works..!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4934339" y="2670738"/>
            <a:ext cx="2323322" cy="4012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Clarity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3048000" y="328213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/>
              <a:t>Avoiding Unnecessary jargons &amp; complexity that can confuse audience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r="57482" b="35472"/>
          <a:stretch/>
        </p:blipFill>
        <p:spPr>
          <a:xfrm>
            <a:off x="3551724" y="4075952"/>
            <a:ext cx="5088552" cy="228039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4205079" y="2408257"/>
            <a:ext cx="44312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3501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 animBg="1"/>
      <p:bldP spid="8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Clear Waters Analytics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3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3573625" y="139959"/>
            <a:ext cx="5355771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800" b="1" dirty="0" smtClean="0"/>
              <a:t>Mastering Data Story Telling</a:t>
            </a:r>
            <a:endParaRPr lang="en-US" b="1" dirty="0" smtClean="0"/>
          </a:p>
          <a:p>
            <a:pPr algn="ctr">
              <a:lnSpc>
                <a:spcPct val="200000"/>
              </a:lnSpc>
            </a:pPr>
            <a:r>
              <a:rPr lang="en-US" dirty="0" smtClean="0"/>
              <a:t>5 Key Principles (5 Cs)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81134" y="1811383"/>
            <a:ext cx="9461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 Key Principles aka 5Cs helps in conveying key insights effectively through a Story Telling that just works..!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4934339" y="2670738"/>
            <a:ext cx="2323322" cy="40121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Conciseness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3048000" y="328213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/>
              <a:t>Simple Language; focusing on the most important </a:t>
            </a:r>
            <a:r>
              <a:rPr lang="en-US" dirty="0" smtClean="0"/>
              <a:t>insights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203510" y="4475878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600" i="1" dirty="0" smtClean="0"/>
              <a:t>“Lower </a:t>
            </a:r>
            <a:r>
              <a:rPr lang="en-US" sz="1600" i="1" dirty="0"/>
              <a:t>Approval Rate for new contracts, whether for existing or new consumers, poses substantial sales and consumer experience </a:t>
            </a:r>
            <a:r>
              <a:rPr lang="en-US" sz="1600" i="1" dirty="0" smtClean="0"/>
              <a:t>challenges”</a:t>
            </a:r>
            <a:endParaRPr lang="en-IN" sz="1600" i="1" dirty="0"/>
          </a:p>
        </p:txBody>
      </p:sp>
      <p:sp>
        <p:nvSpPr>
          <p:cNvPr id="10" name="Rectangle 9"/>
          <p:cNvSpPr/>
          <p:nvPr/>
        </p:nvSpPr>
        <p:spPr>
          <a:xfrm>
            <a:off x="4205079" y="2408257"/>
            <a:ext cx="44312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1859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6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Clear Waters Analytics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4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3573625" y="139959"/>
            <a:ext cx="5355771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800" b="1" dirty="0" smtClean="0"/>
              <a:t>Mastering Data Story Telling</a:t>
            </a:r>
            <a:endParaRPr lang="en-US" b="1" dirty="0" smtClean="0"/>
          </a:p>
          <a:p>
            <a:pPr algn="ctr">
              <a:lnSpc>
                <a:spcPct val="200000"/>
              </a:lnSpc>
            </a:pPr>
            <a:r>
              <a:rPr lang="en-US" dirty="0" smtClean="0"/>
              <a:t>5 Key Principles (5 Cs)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81134" y="1811383"/>
            <a:ext cx="9461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 Key Principles aka 5Cs helps in conveying key insights effectively through a Story Telling that just works..!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4934339" y="2670738"/>
            <a:ext cx="2323322" cy="4012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Compelling Visuals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3048000" y="328213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/>
              <a:t>Focus on simplifying complex data; engage the </a:t>
            </a:r>
            <a:r>
              <a:rPr lang="en-US" dirty="0" smtClean="0"/>
              <a:t>audience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4205079" y="2408257"/>
            <a:ext cx="44312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984" y="3998791"/>
            <a:ext cx="4341863" cy="204973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210" y="3998791"/>
            <a:ext cx="4452490" cy="2049731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12" name="Right Arrow 11"/>
          <p:cNvSpPr/>
          <p:nvPr/>
        </p:nvSpPr>
        <p:spPr>
          <a:xfrm>
            <a:off x="5753100" y="4640580"/>
            <a:ext cx="693420" cy="48768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6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Clear Waters Analytics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5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3573625" y="139959"/>
            <a:ext cx="5355771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800" b="1" dirty="0" smtClean="0"/>
              <a:t>Mastering Data Story Telling</a:t>
            </a:r>
            <a:endParaRPr lang="en-US" b="1" dirty="0" smtClean="0"/>
          </a:p>
          <a:p>
            <a:pPr algn="ctr">
              <a:lnSpc>
                <a:spcPct val="200000"/>
              </a:lnSpc>
            </a:pPr>
            <a:r>
              <a:rPr lang="en-US" dirty="0" smtClean="0"/>
              <a:t>5 Key Principles (5 Cs)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81134" y="1811383"/>
            <a:ext cx="9461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 Key Principles aka 5Cs helps in conveying key insights effectively through a Story Telling that just works..!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4934339" y="2670738"/>
            <a:ext cx="2323322" cy="40121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Causality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3048000" y="328213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/>
              <a:t>Identify &amp; explain patterns or trends; cause-&amp;-effect relationships; why things are happening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4205079" y="2408257"/>
            <a:ext cx="44312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03220" y="4219075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i="1" dirty="0" smtClean="0"/>
              <a:t>“A </a:t>
            </a:r>
            <a:r>
              <a:rPr lang="en-US" sz="1600" i="1" dirty="0"/>
              <a:t>Higher Rate of Application Withdrawals is </a:t>
            </a:r>
            <a:r>
              <a:rPr lang="en-US" sz="1600" b="1" i="1" u="sng" dirty="0" smtClean="0"/>
              <a:t>CAUSED</a:t>
            </a:r>
            <a:r>
              <a:rPr lang="en-US" sz="1600" i="1" dirty="0" smtClean="0"/>
              <a:t> due </a:t>
            </a:r>
            <a:r>
              <a:rPr lang="en-US" sz="1600" i="1" dirty="0"/>
              <a:t>to Incorrect Details or Incomplete Applications submitted at the </a:t>
            </a:r>
            <a:r>
              <a:rPr lang="en-US" sz="1600" i="1" dirty="0" smtClean="0"/>
              <a:t>stores”</a:t>
            </a:r>
            <a:endParaRPr lang="en-US" sz="1600" i="1" dirty="0"/>
          </a:p>
        </p:txBody>
      </p:sp>
      <p:sp>
        <p:nvSpPr>
          <p:cNvPr id="13" name="Rectangle 12"/>
          <p:cNvSpPr/>
          <p:nvPr/>
        </p:nvSpPr>
        <p:spPr>
          <a:xfrm>
            <a:off x="3048000" y="5153076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i="1" dirty="0" smtClean="0"/>
              <a:t>“Lower Approval Rate for existing &amp; new consumers, posing substantial sales and consumer experience challenges”</a:t>
            </a:r>
            <a:endParaRPr lang="en-IN" sz="1600" i="1" dirty="0"/>
          </a:p>
        </p:txBody>
      </p:sp>
      <p:sp>
        <p:nvSpPr>
          <p:cNvPr id="14" name="Rectangle 13"/>
          <p:cNvSpPr/>
          <p:nvPr/>
        </p:nvSpPr>
        <p:spPr>
          <a:xfrm>
            <a:off x="5411755" y="4764433"/>
            <a:ext cx="9593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u="sng" dirty="0" smtClean="0"/>
              <a:t>EFFECT?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27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/>
      <p:bldP spid="6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Clear Waters Analytics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6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3573625" y="139959"/>
            <a:ext cx="5355771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800" b="1" dirty="0" smtClean="0"/>
              <a:t>Mastering Data Story Telling</a:t>
            </a:r>
            <a:endParaRPr lang="en-US" b="1" dirty="0" smtClean="0"/>
          </a:p>
          <a:p>
            <a:pPr algn="ctr">
              <a:lnSpc>
                <a:spcPct val="200000"/>
              </a:lnSpc>
            </a:pPr>
            <a:r>
              <a:rPr lang="en-US" dirty="0" smtClean="0"/>
              <a:t>5 Key Principles (5 Cs)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81134" y="1811383"/>
            <a:ext cx="9461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 Key Principles aka 5Cs helps in conveying key insights effectively through a Story Telling that just works..!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4934339" y="2670738"/>
            <a:ext cx="2323322" cy="4012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Chronology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3048000" y="328213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/>
              <a:t>How we got here?; Understand &amp; explain the progression of </a:t>
            </a:r>
            <a:r>
              <a:rPr lang="en-US" dirty="0" smtClean="0"/>
              <a:t>events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4205079" y="2408257"/>
            <a:ext cx="44312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5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4393630" y="4156003"/>
            <a:ext cx="38100" cy="20647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294570" y="4379848"/>
            <a:ext cx="2057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192780" y="4277129"/>
            <a:ext cx="113227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/>
              <a:t>July’23</a:t>
            </a:r>
            <a:endParaRPr lang="en-IN" sz="900" dirty="0"/>
          </a:p>
        </p:txBody>
      </p:sp>
      <p:sp>
        <p:nvSpPr>
          <p:cNvPr id="23" name="Rectangle 22"/>
          <p:cNvSpPr/>
          <p:nvPr/>
        </p:nvSpPr>
        <p:spPr>
          <a:xfrm>
            <a:off x="4530790" y="428414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A Higher Rate of Application Withdrawals leading to a fewer applications being </a:t>
            </a:r>
            <a:r>
              <a:rPr lang="en-US" sz="800" dirty="0" smtClean="0"/>
              <a:t>Approved</a:t>
            </a:r>
            <a:endParaRPr lang="en-IN" sz="800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4294570" y="5143652"/>
            <a:ext cx="2057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192780" y="5040933"/>
            <a:ext cx="113227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/>
              <a:t>15</a:t>
            </a:r>
            <a:r>
              <a:rPr lang="en-US" sz="900" baseline="30000" dirty="0" smtClean="0"/>
              <a:t>th</a:t>
            </a:r>
            <a:r>
              <a:rPr lang="en-US" sz="900" dirty="0" smtClean="0"/>
              <a:t> Aug’23</a:t>
            </a:r>
            <a:endParaRPr lang="en-IN" sz="900" dirty="0"/>
          </a:p>
        </p:txBody>
      </p:sp>
      <p:sp>
        <p:nvSpPr>
          <p:cNvPr id="26" name="Rectangle 25"/>
          <p:cNvSpPr/>
          <p:nvPr/>
        </p:nvSpPr>
        <p:spPr>
          <a:xfrm>
            <a:off x="4530790" y="5047948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 smtClean="0"/>
              <a:t>Withdrawal Rate Continues to be High; Root Cause Analysis Completed</a:t>
            </a:r>
            <a:endParaRPr lang="en-IN" sz="800" dirty="0"/>
          </a:p>
        </p:txBody>
      </p:sp>
      <p:cxnSp>
        <p:nvCxnSpPr>
          <p:cNvPr id="27" name="Straight Connector 26"/>
          <p:cNvCxnSpPr/>
          <p:nvPr/>
        </p:nvCxnSpPr>
        <p:spPr>
          <a:xfrm>
            <a:off x="4305611" y="5549464"/>
            <a:ext cx="2057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203821" y="5446745"/>
            <a:ext cx="113227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/>
              <a:t>20</a:t>
            </a:r>
            <a:r>
              <a:rPr lang="en-US" sz="900" baseline="30000" dirty="0" smtClean="0"/>
              <a:t>th</a:t>
            </a:r>
            <a:r>
              <a:rPr lang="en-US" sz="900" dirty="0" smtClean="0"/>
              <a:t> Aug’23</a:t>
            </a:r>
            <a:endParaRPr lang="en-IN" sz="900" dirty="0"/>
          </a:p>
        </p:txBody>
      </p:sp>
      <p:sp>
        <p:nvSpPr>
          <p:cNvPr id="29" name="Rectangle 28"/>
          <p:cNvSpPr/>
          <p:nvPr/>
        </p:nvSpPr>
        <p:spPr>
          <a:xfrm>
            <a:off x="4541831" y="5453760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 smtClean="0"/>
              <a:t>6 weeks Training Program for Stores Kicked-Off</a:t>
            </a:r>
            <a:endParaRPr lang="en-IN" sz="800" dirty="0"/>
          </a:p>
        </p:txBody>
      </p:sp>
      <p:cxnSp>
        <p:nvCxnSpPr>
          <p:cNvPr id="30" name="Straight Connector 29"/>
          <p:cNvCxnSpPr/>
          <p:nvPr/>
        </p:nvCxnSpPr>
        <p:spPr>
          <a:xfrm>
            <a:off x="4305611" y="5930751"/>
            <a:ext cx="2057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203821" y="5828032"/>
            <a:ext cx="113227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/>
              <a:t>30</a:t>
            </a:r>
            <a:r>
              <a:rPr lang="en-US" sz="900" baseline="30000" dirty="0" smtClean="0"/>
              <a:t>th</a:t>
            </a:r>
            <a:r>
              <a:rPr lang="en-US" sz="900" dirty="0" smtClean="0"/>
              <a:t> Aug’23</a:t>
            </a:r>
            <a:endParaRPr lang="en-IN" sz="900" dirty="0"/>
          </a:p>
        </p:txBody>
      </p:sp>
      <p:sp>
        <p:nvSpPr>
          <p:cNvPr id="33" name="Rectangle 32"/>
          <p:cNvSpPr/>
          <p:nvPr/>
        </p:nvSpPr>
        <p:spPr>
          <a:xfrm>
            <a:off x="4568890" y="5828032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 smtClean="0"/>
              <a:t>Withdrawal Rate in last week of Aug declined by ~2% </a:t>
            </a:r>
          </a:p>
          <a:p>
            <a:r>
              <a:rPr lang="en-US" sz="800" dirty="0"/>
              <a:t>Approval Rate improved by &gt;4% during the same </a:t>
            </a:r>
            <a:r>
              <a:rPr lang="en-US" sz="800" dirty="0" smtClean="0"/>
              <a:t>period</a:t>
            </a:r>
            <a:endParaRPr lang="en-IN" sz="800" dirty="0"/>
          </a:p>
        </p:txBody>
      </p:sp>
      <p:cxnSp>
        <p:nvCxnSpPr>
          <p:cNvPr id="34" name="Straight Connector 33"/>
          <p:cNvCxnSpPr/>
          <p:nvPr/>
        </p:nvCxnSpPr>
        <p:spPr>
          <a:xfrm>
            <a:off x="4310121" y="4761007"/>
            <a:ext cx="2057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208331" y="4658288"/>
            <a:ext cx="113227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/>
              <a:t>15</a:t>
            </a:r>
            <a:r>
              <a:rPr lang="en-US" sz="900" baseline="30000" dirty="0" smtClean="0"/>
              <a:t>th</a:t>
            </a:r>
            <a:r>
              <a:rPr lang="en-US" sz="900" dirty="0" smtClean="0"/>
              <a:t> July’23</a:t>
            </a:r>
            <a:endParaRPr lang="en-IN" sz="900" dirty="0"/>
          </a:p>
        </p:txBody>
      </p:sp>
      <p:sp>
        <p:nvSpPr>
          <p:cNvPr id="36" name="Rectangle 35"/>
          <p:cNvSpPr/>
          <p:nvPr/>
        </p:nvSpPr>
        <p:spPr>
          <a:xfrm>
            <a:off x="4546341" y="4665303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 smtClean="0"/>
              <a:t>KPI Dashboard was Deployed by Data Analytics &amp; Root Cause Analysis was Kicked-Off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184240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/>
      <p:bldP spid="22" grpId="0"/>
      <p:bldP spid="23" grpId="0"/>
      <p:bldP spid="25" grpId="0"/>
      <p:bldP spid="26" grpId="0"/>
      <p:bldP spid="28" grpId="0"/>
      <p:bldP spid="29" grpId="0"/>
      <p:bldP spid="31" grpId="0"/>
      <p:bldP spid="33" grpId="0"/>
      <p:bldP spid="35" grpId="0"/>
      <p:bldP spid="3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14630</TotalTime>
  <Words>391</Words>
  <Application>Microsoft Office PowerPoint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 Kumar</dc:creator>
  <cp:lastModifiedBy>Raj Kumar</cp:lastModifiedBy>
  <cp:revision>99</cp:revision>
  <dcterms:created xsi:type="dcterms:W3CDTF">2023-09-17T09:57:48Z</dcterms:created>
  <dcterms:modified xsi:type="dcterms:W3CDTF">2023-09-27T13:50:54Z</dcterms:modified>
</cp:coreProperties>
</file>